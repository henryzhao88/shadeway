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d6277d76184409" /><Relationship Type="http://schemas.openxmlformats.org/officeDocument/2006/relationships/extended-properties" Target="/docProps/app.xml" Id="Rb80ba01c783940e3" /><Relationship Type="http://schemas.openxmlformats.org/officeDocument/2006/relationships/officeDocument" Target="/ppt/presentation.xml" Id="R13eeedef959e4f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0e745971d04e97"/>
  </p:sldMasterIdLst>
  <p:notesMasterIdLst>
    <p:notesMasterId xmlns:r="http://schemas.openxmlformats.org/officeDocument/2006/relationships" r:id="Rfb0462e80bf94079"/>
  </p:notesMasterIdLst>
  <p:sldIdLst>
    <p:sldId xmlns:r="http://schemas.openxmlformats.org/officeDocument/2006/relationships" id="256" r:id="R952eb27cdf894b03"/>
    <p:sldId xmlns:r="http://schemas.openxmlformats.org/officeDocument/2006/relationships" id="257" r:id="R6669c8280dca41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91da2ea874b35" /><Relationship Type="http://schemas.openxmlformats.org/officeDocument/2006/relationships/slideMaster" Target="/ppt/slideMasters/slideMaster1.xml" Id="R370e745971d04e97" /><Relationship Type="http://schemas.openxmlformats.org/officeDocument/2006/relationships/notesMaster" Target="/ppt/notesMasters/notesMaster1.xml" Id="Rfb0462e80bf94079" /><Relationship Type="http://schemas.openxmlformats.org/officeDocument/2006/relationships/presProps" Target="/ppt/presProps.xml" Id="Rae3eef67dfb24783" /><Relationship Type="http://schemas.openxmlformats.org/officeDocument/2006/relationships/tableStyles" Target="/ppt/tableStyles.xml" Id="R3010426e99744a72" /><Relationship Type="http://schemas.openxmlformats.org/officeDocument/2006/relationships/slide" Target="/ppt/slides/slide1.xml" Id="R952eb27cdf894b03" /><Relationship Type="http://schemas.openxmlformats.org/officeDocument/2006/relationships/slide" Target="/ppt/slides/slide2.xml" Id="R6669c8280dca41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eddb77fc0a47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5b44e64a84d0d" /><Relationship Type="http://schemas.openxmlformats.org/officeDocument/2006/relationships/notesMaster" Target="/ppt/notesMasters/notesMaster1.xml" Id="Rbdeec64a069a4e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90b67ccfc546d6" /><Relationship Type="http://schemas.openxmlformats.org/officeDocument/2006/relationships/notesMaster" Target="/ppt/notesMasters/notesMaster1.xml" Id="R875800814897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Hero image: generated with OpenAI image generation on 2026-08-30.</a:t>
            </a:r>
          </a:p>
          <a:p xmlns:a="http://schemas.openxmlformats.org/drawingml/2006/main">
            <a:r>
              <a:t>- Hackathon framing: https://hacksocial2026.devpost.com/ (read 2026-08-30).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capabilities: Shadeway repository README.md and web/src/ui components, reviewed 2026-08-30.</a:t>
            </a:r>
          </a:p>
          <a:p xmlns:a="http://schemas.openxmlformats.org/drawingml/2006/main">
            <a:r>
              <a:t>- Illustrative route values are a product-story visualization, not a claim about a live route at a particular time.</a:t>
            </a:r>
          </a:p>
          <a:p xmlns:a="http://schemas.openxmlformats.org/drawingml/2006/main">
            <a:r>
              <a:t>- Hackathon framing: https://hacksocial2026.devpost.com/ (read 2026-08-30).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96f7d43db4a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9a9cb359ee46c9" /><Relationship Type="http://schemas.openxmlformats.org/officeDocument/2006/relationships/slideLayout" Target="/ppt/slideLayouts/slideLayout1.xml" Id="R3cd41b7b8d9b43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d41b7b8d9b43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51c0ea0c646cc" /><Relationship Type="http://schemas.openxmlformats.org/officeDocument/2006/relationships/image" Target="/ppt/media/image.png" Id="Redb9cca7f2dc4aef" /><Relationship Type="http://schemas.openxmlformats.org/officeDocument/2006/relationships/notesSlide" Target="/ppt/notesSlides/notesSlide1.xml" Id="R42b0967832564c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dd5ce0bd943e6" /><Relationship Type="http://schemas.openxmlformats.org/officeDocument/2006/relationships/chart" Target="/ppt/slides/charts/chart1.xml" Id="R9518a21beab1401f" /><Relationship Type="http://schemas.openxmlformats.org/officeDocument/2006/relationships/notesSlide" Target="/ppt/notesSlides/notesSlide2.xml" Id="R121818bfc1be43e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Feels like</c:v>
          </c:tx>
          <c:spPr>
            <a:ln xmlns:a="http://schemas.openxmlformats.org/drawingml/2006/main" w="28575">
              <a:solidFill>
                <a:srgbClr val="E66F3C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66F3C"/>
              </a:solidFill>
            </c:spPr>
          </c:marker>
          <c:cat>
            <c:strLit>
              <c:ptCount val="4"/>
              <c:pt idx="0">
                <c:v>3 PM</c:v>
              </c:pt>
              <c:pt idx="1">
                <c:v>4 PM</c:v>
              </c:pt>
              <c:pt idx="2">
                <c:v>5 PM</c:v>
              </c:pt>
              <c:pt idx="3">
                <c:v>6 PM</c:v>
              </c:pt>
            </c:strLit>
          </c:cat>
          <c:val>
            <c:numLit>
              <c:formatCode>General</c:formatCode>
              <c:ptCount val="4"/>
              <c:pt idx="0">
                <c:v>39</c:v>
              </c:pt>
              <c:pt idx="1">
                <c:v>36</c:v>
              </c:pt>
              <c:pt idx="2">
                <c:v>33</c:v>
              </c:pt>
              <c:pt idx="3">
                <c:v>29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6546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"/>
          <c:min val="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9cca7f2dc4aef"/>
          <a:srcRect xmlns:a="http://schemas.openxmlformats.org/drawingml/2006/main" l="20297" t="0" r="20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26418-9AFE-464D-9421-2B6892F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0"/>
            <a:ext cx="7572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21BBC-1E59-43FD-BA70-8BCB5CEB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3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77370-78FD-4C69-8CE2-415C959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7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201AD-0606-43DA-92DC-FB7698D8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kicker">
            <a:extLst xmlns:a="http://schemas.openxmlformats.org/drawingml/2006/main">
              <a:ext uri="{FF2B5EF4-FFF2-40B4-BE49-F238E27FC236}">
                <a16:creationId xmlns:a16="http://schemas.microsoft.com/office/drawing/2014/main" id="{D4BF0464-B0A6-4648-93E9-5A810FDB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 spc="1">
                <a:solidFill>
                  <a:srgbClr val="76C8E4"/>
                </a:solidFill>
              </a:defRPr>
            </a:pPr>
            <a:r>
              <a:rPr sz="1050" b="1" i="0" spc="1">
                <a:solidFill>
                  <a:srgbClr val="76C8E4"/>
                </a:solidFill>
              </a:rPr>
              <a:t>SHADEWAY  |  HEAT-AWARE WALKING</a:t>
            </a:r>
          </a:p>
        </p:txBody>
      </p:sp>
      <p:sp>
        <p:nvSpPr>
          <p:cNvPr id="7" name="s1-title">
            <a:extLst xmlns:a="http://schemas.openxmlformats.org/drawingml/2006/main">
              <a:ext uri="{FF2B5EF4-FFF2-40B4-BE49-F238E27FC236}">
                <a16:creationId xmlns:a16="http://schemas.microsoft.com/office/drawing/2014/main" id="{7840F320-ECAA-44C6-BEB2-C99DD104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762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75" b="1" i="0">
                <a:solidFill>
                  <a:srgbClr val="F7F8F6"/>
                </a:solidFill>
              </a:defRPr>
            </a:pPr>
            <a:r>
              <a:rPr sz="3975" b="1" i="0">
                <a:solidFill>
                  <a:srgbClr val="F7F8F6"/>
                </a:solidFill>
              </a:rPr>
              <a:t>A fast route is not always</a:t>
            </a:r>
          </a:p>
          <a:p xmlns:a="http://schemas.openxmlformats.org/drawingml/2006/main">
            <a:pPr algn="l">
              <a:defRPr sz="3975" b="1" i="0">
                <a:solidFill>
                  <a:srgbClr val="F7F8F6"/>
                </a:solidFill>
              </a:defRPr>
            </a:pPr>
            <a:r>
              <a:rPr sz="3975" b="1" i="0">
                <a:solidFill>
                  <a:srgbClr val="F7F8F6"/>
                </a:solidFill>
              </a:rPr>
              <a:t>the easiest walk.</a:t>
            </a:r>
          </a:p>
        </p:txBody>
      </p:sp>
      <p:sp>
        <p:nvSpPr>
          <p:cNvPr id="8" name="s1-subtitle">
            <a:extLst xmlns:a="http://schemas.openxmlformats.org/drawingml/2006/main">
              <a:ext uri="{FF2B5EF4-FFF2-40B4-BE49-F238E27FC236}">
                <a16:creationId xmlns:a16="http://schemas.microsoft.com/office/drawing/2014/main" id="{FA5A1B44-BE59-438D-95A1-F997F1A4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23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9D5D7"/>
                </a:solidFill>
              </a:defRPr>
            </a:pPr>
            <a:r>
              <a:rPr sz="1650" b="0" i="0">
                <a:solidFill>
                  <a:srgbClr val="C9D5D7"/>
                </a:solidFill>
              </a:rPr>
              <a:t>Direct sun can turn a short city walk into the hardest part of someone’s day. Most maps only optimize for minutes.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1F157-A967-4FFB-956E-D156B273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-need-label">
            <a:extLst xmlns:a="http://schemas.openxmlformats.org/drawingml/2006/main">
              <a:ext uri="{FF2B5EF4-FFF2-40B4-BE49-F238E27FC236}">
                <a16:creationId xmlns:a16="http://schemas.microsoft.com/office/drawing/2014/main" id="{96BB3FEC-3C25-4AD4-AED5-28D4FCB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 spc="1">
                <a:solidFill>
                  <a:srgbClr val="76C8E4"/>
                </a:solidFill>
              </a:defRPr>
            </a:pPr>
            <a:r>
              <a:rPr sz="975" b="1" i="0" spc="1">
                <a:solidFill>
                  <a:srgbClr val="76C8E4"/>
                </a:solidFill>
              </a:rPr>
              <a:t>WHAT PEOPLE ACTUALLY NEED</a:t>
            </a:r>
          </a:p>
        </p:txBody>
      </p:sp>
      <p:sp>
        <p:nvSpPr>
          <p:cNvPr id="11" name="s1-need-copy">
            <a:extLst xmlns:a="http://schemas.openxmlformats.org/drawingml/2006/main">
              <a:ext uri="{FF2B5EF4-FFF2-40B4-BE49-F238E27FC236}">
                <a16:creationId xmlns:a16="http://schemas.microsoft.com/office/drawing/2014/main" id="{672774D3-694C-40C8-9613-D5BD8066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8F6"/>
                </a:solidFill>
              </a:defRPr>
            </a:pPr>
            <a:r>
              <a:rPr sz="1650" b="1" i="0">
                <a:solidFill>
                  <a:srgbClr val="F7F8F6"/>
                </a:solidFill>
              </a:rPr>
              <a:t>Which route feels better?</a:t>
            </a:r>
          </a:p>
          <a:p xmlns:a="http://schemas.openxmlformats.org/drawingml/2006/main">
            <a:pPr algn="l">
              <a:defRPr sz="1650" b="1" i="0">
                <a:solidFill>
                  <a:srgbClr val="F7F8F6"/>
                </a:solidFill>
              </a:defRPr>
            </a:pPr>
            <a:r>
              <a:rPr sz="1650" b="1" i="0">
                <a:solidFill>
                  <a:srgbClr val="F7F8F6"/>
                </a:solidFill>
              </a:rPr>
              <a:t>Which side stays cooler?</a:t>
            </a:r>
          </a:p>
          <a:p xmlns:a="http://schemas.openxmlformats.org/drawingml/2006/main">
            <a:pPr algn="l">
              <a:defRPr sz="1650" b="1" i="0">
                <a:solidFill>
                  <a:srgbClr val="F7F8F6"/>
                </a:solidFill>
              </a:defRPr>
            </a:pPr>
            <a:r>
              <a:rPr sz="1650" b="1" i="0">
                <a:solidFill>
                  <a:srgbClr val="F7F8F6"/>
                </a:solidFill>
              </a:rPr>
              <a:t>Should I leave later?</a:t>
            </a:r>
          </a:p>
        </p:txBody>
      </p:sp>
      <p:sp>
        <p:nvSpPr>
          <p:cNvPr id="12" name="s1-page">
            <a:extLst xmlns:a="http://schemas.openxmlformats.org/drawingml/2006/main">
              <a:ext uri="{FF2B5EF4-FFF2-40B4-BE49-F238E27FC236}">
                <a16:creationId xmlns:a16="http://schemas.microsoft.com/office/drawing/2014/main" id="{03A6A320-DC77-443D-A185-EAB4B6DE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0929A"/>
                </a:solidFill>
              </a:defRPr>
            </a:pPr>
            <a:r>
              <a:rPr sz="1050" b="0" i="0">
                <a:solidFill>
                  <a:srgbClr val="80929A"/>
                </a:solidFill>
              </a:rPr>
              <a:t>01</a:t>
            </a:r>
          </a:p>
        </p:txBody>
      </p:sp>
      <p:sp>
        <p:nvSpPr>
          <p:cNvPr id="13" name="s1-footer">
            <a:extLst xmlns:a="http://schemas.openxmlformats.org/drawingml/2006/main">
              <a:ext uri="{FF2B5EF4-FFF2-40B4-BE49-F238E27FC236}">
                <a16:creationId xmlns:a16="http://schemas.microsoft.com/office/drawing/2014/main" id="{B19D9B40-6C03-48BA-A353-5F6AAD2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579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0929A"/>
                </a:solidFill>
              </a:defRPr>
            </a:pPr>
            <a:r>
              <a:rPr sz="1050" b="0" i="0">
                <a:solidFill>
                  <a:srgbClr val="80929A"/>
                </a:solidFill>
              </a:rPr>
              <a:t>Heat changes the 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DDA4E-6F17-47AD-A6EC-1673EB26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10200"/>
            <a:ext cx="247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1A25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image-caption">
            <a:extLst xmlns:a="http://schemas.openxmlformats.org/drawingml/2006/main">
              <a:ext uri="{FF2B5EF4-FFF2-40B4-BE49-F238E27FC236}">
                <a16:creationId xmlns:a16="http://schemas.microsoft.com/office/drawing/2014/main" id="{65B20E8D-717F-4421-A7EF-041CCF8D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5721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7F8F6"/>
                </a:solidFill>
              </a:defRPr>
            </a:pPr>
            <a:r>
              <a:rPr sz="1425" b="1" i="0">
                <a:solidFill>
                  <a:srgbClr val="F7F8F6"/>
                </a:solidFill>
              </a:rPr>
              <a:t>Same city.</a:t>
            </a:r>
          </a:p>
          <a:p xmlns:a="http://schemas.openxmlformats.org/drawingml/2006/main">
            <a:pPr algn="l">
              <a:defRPr sz="1425" b="1" i="0">
                <a:solidFill>
                  <a:srgbClr val="F7F8F6"/>
                </a:solidFill>
              </a:defRPr>
            </a:pPr>
            <a:r>
              <a:rPr sz="1425" b="1" i="0">
                <a:solidFill>
                  <a:srgbClr val="F7F8F6"/>
                </a:solidFill>
              </a:rPr>
              <a:t>A different walk.</a:t>
            </a:r>
          </a:p>
        </p:txBody>
      </p:sp>
    </p:spTree>
    <p:extLst>
      <p:ext uri="{BB962C8B-B14F-4D97-AF65-F5344CB8AC3E}">
        <p14:creationId xmlns:p14="http://schemas.microsoft.com/office/powerpoint/2010/main" val="1930230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8D7699-89C1-4909-8F13-AC2D87EC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2-kicker">
            <a:extLst xmlns:a="http://schemas.openxmlformats.org/drawingml/2006/main">
              <a:ext uri="{FF2B5EF4-FFF2-40B4-BE49-F238E27FC236}">
                <a16:creationId xmlns:a16="http://schemas.microsoft.com/office/drawing/2014/main" id="{34AF9331-7D2A-4AE2-AF36-08CECC3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 spc="1">
                <a:solidFill>
                  <a:srgbClr val="1E9B8F"/>
                </a:solidFill>
              </a:defRPr>
            </a:pPr>
            <a:r>
              <a:rPr sz="1050" b="1" i="0" spc="1">
                <a:solidFill>
                  <a:srgbClr val="1E9B8F"/>
                </a:solidFill>
              </a:rPr>
              <a:t>SHADEWAY  |  WHAT WE BUILT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6BF3D67F-13E1-4514-B1DC-29169378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D1720"/>
                </a:solidFill>
              </a:defRPr>
            </a:pPr>
            <a:r>
              <a:rPr sz="3600" b="1" i="0">
                <a:solidFill>
                  <a:srgbClr val="0D1720"/>
                </a:solidFill>
              </a:rPr>
              <a:t>A walking planner</a:t>
            </a:r>
          </a:p>
          <a:p xmlns:a="http://schemas.openxmlformats.org/drawingml/2006/main">
            <a:pPr algn="l">
              <a:defRPr sz="3600" b="1" i="0">
                <a:solidFill>
                  <a:srgbClr val="0D1720"/>
                </a:solidFill>
              </a:defRPr>
            </a:pPr>
            <a:r>
              <a:rPr sz="3600" b="1" i="0">
                <a:solidFill>
                  <a:srgbClr val="0D1720"/>
                </a:solidFill>
              </a:rPr>
              <a:t>for how the walk feels.</a:t>
            </a:r>
          </a:p>
        </p:txBody>
      </p:sp>
      <p:sp>
        <p:nvSpPr>
          <p:cNvPr id="4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3804F3F-9980-4C69-885E-A1C09DC5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65460"/>
                </a:solidFill>
              </a:defRPr>
            </a:pPr>
            <a:r>
              <a:rPr sz="1650" b="0" i="0">
                <a:solidFill>
                  <a:srgbClr val="465460"/>
                </a:solidFill>
              </a:rPr>
              <a:t>Shadeway turns invisible heat exposure into practical choices before you leave.</a:t>
            </a:r>
          </a:p>
        </p:txBody>
      </p:sp>
      <p:sp>
        <p:nvSpPr>
          <p:cNvPr id="5" name="s2-num-0">
            <a:extLst xmlns:a="http://schemas.openxmlformats.org/drawingml/2006/main">
              <a:ext uri="{FF2B5EF4-FFF2-40B4-BE49-F238E27FC236}">
                <a16:creationId xmlns:a16="http://schemas.microsoft.com/office/drawing/2014/main" id="{648CC486-88AF-4D06-A00C-49031C10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66F3C"/>
                </a:solidFill>
              </a:defRPr>
            </a:pPr>
            <a:r>
              <a:rPr sz="1050" b="1" i="0">
                <a:solidFill>
                  <a:srgbClr val="E66F3C"/>
                </a:solidFill>
              </a:rPr>
              <a:t>01</a:t>
            </a:r>
          </a:p>
        </p:txBody>
      </p:sp>
      <p:sp>
        <p:nvSpPr>
          <p:cNvPr id="6" name="s2-head-0">
            <a:extLst xmlns:a="http://schemas.openxmlformats.org/drawingml/2006/main">
              <a:ext uri="{FF2B5EF4-FFF2-40B4-BE49-F238E27FC236}">
                <a16:creationId xmlns:a16="http://schemas.microsoft.com/office/drawing/2014/main" id="{36792CCB-7E02-4A83-9033-375F66D2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1720"/>
                </a:solidFill>
              </a:defRPr>
            </a:pPr>
            <a:r>
              <a:rPr sz="1500" b="1" i="0">
                <a:solidFill>
                  <a:srgbClr val="0D1720"/>
                </a:solidFill>
              </a:rPr>
              <a:t>Cooler route choices</a:t>
            </a:r>
          </a:p>
        </p:txBody>
      </p:sp>
      <p:sp>
        <p:nvSpPr>
          <p:cNvPr id="7" name="s2-body-0">
            <a:extLst xmlns:a="http://schemas.openxmlformats.org/drawingml/2006/main">
              <a:ext uri="{FF2B5EF4-FFF2-40B4-BE49-F238E27FC236}">
                <a16:creationId xmlns:a16="http://schemas.microsoft.com/office/drawing/2014/main" id="{9AAD4067-FF99-4EF7-BF32-E3CDD830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65460"/>
                </a:solidFill>
              </a:defRPr>
            </a:pPr>
            <a:r>
              <a:rPr sz="1200" b="0" i="0">
                <a:solidFill>
                  <a:srgbClr val="465460"/>
                </a:solidFill>
              </a:rPr>
              <a:t>Compare the fastest walk with options that feel cooler.</a:t>
            </a:r>
          </a:p>
        </p:txBody>
      </p:sp>
      <p:sp>
        <p:nvSpPr>
          <p:cNvPr id="8" name="s2-num-1">
            <a:extLst xmlns:a="http://schemas.openxmlformats.org/drawingml/2006/main">
              <a:ext uri="{FF2B5EF4-FFF2-40B4-BE49-F238E27FC236}">
                <a16:creationId xmlns:a16="http://schemas.microsoft.com/office/drawing/2014/main" id="{731F13C4-BFDE-4382-A3E9-06DB5FE8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66F3C"/>
                </a:solidFill>
              </a:defRPr>
            </a:pPr>
            <a:r>
              <a:rPr sz="1050" b="1" i="0">
                <a:solidFill>
                  <a:srgbClr val="E66F3C"/>
                </a:solidFill>
              </a:rPr>
              <a:t>02</a:t>
            </a:r>
          </a:p>
        </p:txBody>
      </p:sp>
      <p:sp>
        <p:nvSpPr>
          <p:cNvPr id="9" name="s2-head-1">
            <a:extLst xmlns:a="http://schemas.openxmlformats.org/drawingml/2006/main">
              <a:ext uri="{FF2B5EF4-FFF2-40B4-BE49-F238E27FC236}">
                <a16:creationId xmlns:a16="http://schemas.microsoft.com/office/drawing/2014/main" id="{64A877C9-8214-4AC7-B410-31D98375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29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1720"/>
                </a:solidFill>
              </a:defRPr>
            </a:pPr>
            <a:r>
              <a:rPr sz="1500" b="1" i="0">
                <a:solidFill>
                  <a:srgbClr val="0D1720"/>
                </a:solidFill>
              </a:rPr>
              <a:t>The sun moves with you</a:t>
            </a:r>
          </a:p>
        </p:txBody>
      </p:sp>
      <p:sp>
        <p:nvSpPr>
          <p:cNvPr id="10" name="s2-body-1">
            <a:extLst xmlns:a="http://schemas.openxmlformats.org/drawingml/2006/main">
              <a:ext uri="{FF2B5EF4-FFF2-40B4-BE49-F238E27FC236}">
                <a16:creationId xmlns:a16="http://schemas.microsoft.com/office/drawing/2014/main" id="{00218377-890A-43E0-92EF-4747C4D4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65460"/>
                </a:solidFill>
              </a:defRPr>
            </a:pPr>
            <a:r>
              <a:rPr sz="1200" b="0" i="0">
                <a:solidFill>
                  <a:srgbClr val="465460"/>
                </a:solidFill>
              </a:rPr>
              <a:t>Each block is checked when the walker actually reaches it.</a:t>
            </a:r>
          </a:p>
        </p:txBody>
      </p:sp>
      <p:sp>
        <p:nvSpPr>
          <p:cNvPr id="11" name="s2-num-2">
            <a:extLst xmlns:a="http://schemas.openxmlformats.org/drawingml/2006/main">
              <a:ext uri="{FF2B5EF4-FFF2-40B4-BE49-F238E27FC236}">
                <a16:creationId xmlns:a16="http://schemas.microsoft.com/office/drawing/2014/main" id="{0F60FDED-E47B-47B4-AEB3-84D39DE7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66F3C"/>
                </a:solidFill>
              </a:defRPr>
            </a:pPr>
            <a:r>
              <a:rPr sz="1050" b="1" i="0">
                <a:solidFill>
                  <a:srgbClr val="E66F3C"/>
                </a:solidFill>
              </a:rPr>
              <a:t>03</a:t>
            </a:r>
          </a:p>
        </p:txBody>
      </p:sp>
      <p:sp>
        <p:nvSpPr>
          <p:cNvPr id="12" name="s2-head-2">
            <a:extLst xmlns:a="http://schemas.openxmlformats.org/drawingml/2006/main">
              <a:ext uri="{FF2B5EF4-FFF2-40B4-BE49-F238E27FC236}">
                <a16:creationId xmlns:a16="http://schemas.microsoft.com/office/drawing/2014/main" id="{883330F1-6A0C-441B-9CED-82889E52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1720"/>
                </a:solidFill>
              </a:defRPr>
            </a:pPr>
            <a:r>
              <a:rPr sz="1500" b="1" i="0">
                <a:solidFill>
                  <a:srgbClr val="0D1720"/>
                </a:solidFill>
              </a:rPr>
              <a:t>Practical guidance</a:t>
            </a:r>
          </a:p>
        </p:txBody>
      </p:sp>
      <p:sp>
        <p:nvSpPr>
          <p:cNvPr id="13" name="s2-body-2">
            <a:extLst xmlns:a="http://schemas.openxmlformats.org/drawingml/2006/main">
              <a:ext uri="{FF2B5EF4-FFF2-40B4-BE49-F238E27FC236}">
                <a16:creationId xmlns:a16="http://schemas.microsoft.com/office/drawing/2014/main" id="{2F82F08D-BD40-46CB-916F-EEB67FDD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625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65460"/>
                </a:solidFill>
              </a:defRPr>
            </a:pPr>
            <a:r>
              <a:rPr sz="1200" b="0" i="0">
                <a:solidFill>
                  <a:srgbClr val="465460"/>
                </a:solidFill>
              </a:rPr>
              <a:t>Choose a side of the street, a better time, or a place to cool off.</a:t>
            </a:r>
          </a:p>
        </p:txBody>
      </p:sp>
      <p:sp>
        <p:nvSpPr>
          <p:cNvPr id="14" name="s2-page">
            <a:extLst xmlns:a="http://schemas.openxmlformats.org/drawingml/2006/main">
              <a:ext uri="{FF2B5EF4-FFF2-40B4-BE49-F238E27FC236}">
                <a16:creationId xmlns:a16="http://schemas.microsoft.com/office/drawing/2014/main" id="{2D292AF6-DCCA-4AD6-8C23-8FAF8C9A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7969B"/>
                </a:solidFill>
              </a:defRPr>
            </a:pPr>
            <a:r>
              <a:rPr sz="1050" b="0" i="0">
                <a:solidFill>
                  <a:srgbClr val="87969B"/>
                </a:solidFill>
              </a:rPr>
              <a:t>02</a:t>
            </a:r>
          </a:p>
        </p:txBody>
      </p:sp>
      <p:sp>
        <p:nvSpPr>
          <p:cNvPr id="15" name="s2-footer">
            <a:extLst xmlns:a="http://schemas.openxmlformats.org/drawingml/2006/main">
              <a:ext uri="{FF2B5EF4-FFF2-40B4-BE49-F238E27FC236}">
                <a16:creationId xmlns:a16="http://schemas.microsoft.com/office/drawing/2014/main" id="{EB91E235-526B-4C10-8FC8-4855D596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579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7969B"/>
                </a:solidFill>
              </a:defRPr>
            </a:pPr>
            <a:r>
              <a:rPr sz="1050" b="0" i="0">
                <a:solidFill>
                  <a:srgbClr val="87969B"/>
                </a:solidFill>
              </a:rPr>
              <a:t>A route people can act on</a:t>
            </a:r>
          </a:p>
        </p:txBody>
      </p:sp>
      <p:sp>
        <p:nvSpPr>
          <p:cNvPr id="16" name="s2-product-frame">
            <a:extLst xmlns:a="http://schemas.openxmlformats.org/drawingml/2006/main">
              <a:ext uri="{FF2B5EF4-FFF2-40B4-BE49-F238E27FC236}">
                <a16:creationId xmlns:a16="http://schemas.microsoft.com/office/drawing/2014/main" id="{8C835B1C-5FD0-49B2-A2EA-36EBE0A2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0550"/>
            <a:ext cx="5629275" cy="5657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s2-product-header">
            <a:extLst xmlns:a="http://schemas.openxmlformats.org/drawingml/2006/main">
              <a:ext uri="{FF2B5EF4-FFF2-40B4-BE49-F238E27FC236}">
                <a16:creationId xmlns:a16="http://schemas.microsoft.com/office/drawing/2014/main" id="{02496DB2-4519-48DF-B1D1-334A429F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0550"/>
            <a:ext cx="5629275" cy="49530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01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4D766-41BF-4546-96D3-FE763754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38200"/>
            <a:ext cx="562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2-product-brand">
            <a:extLst xmlns:a="http://schemas.openxmlformats.org/drawingml/2006/main">
              <a:ext uri="{FF2B5EF4-FFF2-40B4-BE49-F238E27FC236}">
                <a16:creationId xmlns:a16="http://schemas.microsoft.com/office/drawing/2014/main" id="{A645821C-2529-450B-8143-21CA3732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334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8F6"/>
                </a:solidFill>
              </a:defRPr>
            </a:pPr>
            <a:r>
              <a:rPr sz="1500" b="1" i="0">
                <a:solidFill>
                  <a:srgbClr val="F7F8F6"/>
                </a:solidFill>
              </a:rPr>
              <a:t>shadeway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C6B50-0324-4922-8131-723AE30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76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F32B7-2684-4594-B192-20BBCB6B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76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1EBE1-60BC-49D5-AA3A-567D984E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76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2-route-label">
            <a:extLst xmlns:a="http://schemas.openxmlformats.org/drawingml/2006/main">
              <a:ext uri="{FF2B5EF4-FFF2-40B4-BE49-F238E27FC236}">
                <a16:creationId xmlns:a16="http://schemas.microsoft.com/office/drawing/2014/main" id="{F761793B-05F8-48B4-9557-683DED87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2858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 spc="1">
                <a:solidFill>
                  <a:srgbClr val="718087"/>
                </a:solidFill>
              </a:defRPr>
            </a:pPr>
            <a:r>
              <a:rPr sz="900" b="1" i="0" spc="1">
                <a:solidFill>
                  <a:srgbClr val="718087"/>
                </a:solidFill>
              </a:rPr>
              <a:t>PENN STATION  →  ROCKEFELLER CENTER</a:t>
            </a:r>
          </a:p>
        </p:txBody>
      </p:sp>
      <p:sp>
        <p:nvSpPr>
          <p:cNvPr id="24" name="s2-route-title">
            <a:extLst xmlns:a="http://schemas.openxmlformats.org/drawingml/2006/main">
              <a:ext uri="{FF2B5EF4-FFF2-40B4-BE49-F238E27FC236}">
                <a16:creationId xmlns:a16="http://schemas.microsoft.com/office/drawing/2014/main" id="{C744FE13-BF19-4769-AA42-BD5183E8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525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D1720"/>
                </a:solidFill>
              </a:defRPr>
            </a:pPr>
            <a:r>
              <a:rPr sz="2175" b="1" i="0">
                <a:solidFill>
                  <a:srgbClr val="0D1720"/>
                </a:solidFill>
              </a:rPr>
              <a:t>One extra minute.</a:t>
            </a:r>
          </a:p>
          <a:p xmlns:a="http://schemas.openxmlformats.org/drawingml/2006/main">
            <a:pPr algn="l">
              <a:defRPr sz="2175" b="1" i="0">
                <a:solidFill>
                  <a:srgbClr val="0D1720"/>
                </a:solidFill>
              </a:defRPr>
            </a:pPr>
            <a:r>
              <a:rPr sz="2175" b="1" i="0">
                <a:solidFill>
                  <a:srgbClr val="0D1720"/>
                </a:solidFill>
              </a:rPr>
              <a:t>A meaningfully cooler walk.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0551D-6DBF-4CE4-B6F4-0C92603E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14600"/>
            <a:ext cx="2924175" cy="1076325"/>
          </a:xfrm>
          <a:prstGeom xmlns:a="http://schemas.openxmlformats.org/drawingml/2006/main" prst="roundRect">
            <a:avLst>
              <a:gd name="adj" fmla="val 12389"/>
            </a:avLst>
          </a:prstGeom>
          <a:solidFill xmlns:a="http://schemas.openxmlformats.org/drawingml/2006/main">
            <a:srgbClr val="EE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3F52D-79A1-49CE-9707-2848EC6A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6161D-1732-4FD0-846A-ADEE72CC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0512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EA8DE-02B2-4DDD-8D31-5B52BC3A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F0A09B-4F34-451B-845E-9B4CB1F0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E6CCA-A582-4554-81CA-A1343112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294C9-453C-421C-A099-5CE1905D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9375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E4937-F241-47BF-B8E1-40C4FB26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11392-4286-43C5-90D5-0C8595F6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19375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DF817C-C39C-42B3-B68C-B76FA003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BC1A67-88D9-4812-B3A9-2854F2D5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581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C48EB-0815-4954-B727-6321A453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57525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B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EF65BF-51C2-4C7D-989E-E4570D9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28925"/>
            <a:ext cx="57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9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592F7E-3878-4D74-90B2-7D15177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619375"/>
            <a:ext cx="6572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9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F8471D-DD37-410B-B69F-3168836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385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701C6F-8AF7-415F-A593-A02A7D23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2-map-start">
            <a:extLst xmlns:a="http://schemas.openxmlformats.org/drawingml/2006/main">
              <a:ext uri="{FF2B5EF4-FFF2-40B4-BE49-F238E27FC236}">
                <a16:creationId xmlns:a16="http://schemas.microsoft.com/office/drawing/2014/main" id="{89E56D64-477C-46AF-A882-2DEF4A4E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460"/>
                </a:solidFill>
              </a:defRPr>
            </a:pPr>
            <a:r>
              <a:rPr sz="825" b="0" i="0">
                <a:solidFill>
                  <a:srgbClr val="465460"/>
                </a:solidFill>
              </a:rPr>
              <a:t>start</a:t>
            </a:r>
          </a:p>
        </p:txBody>
      </p:sp>
      <p:sp>
        <p:nvSpPr>
          <p:cNvPr id="42" name="s2-map-finish">
            <a:extLst xmlns:a="http://schemas.openxmlformats.org/drawingml/2006/main">
              <a:ext uri="{FF2B5EF4-FFF2-40B4-BE49-F238E27FC236}">
                <a16:creationId xmlns:a16="http://schemas.microsoft.com/office/drawing/2014/main" id="{55936276-6D87-4563-822F-A960B671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14625"/>
            <a:ext cx="438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460"/>
                </a:solidFill>
              </a:defRPr>
            </a:pPr>
            <a:r>
              <a:rPr sz="825" b="0" i="0">
                <a:solidFill>
                  <a:srgbClr val="465460"/>
                </a:solidFill>
              </a:rPr>
              <a:t>finish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B3305F-8BD1-467A-A0D1-CC1AB724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1866900" cy="1076325"/>
          </a:xfrm>
          <a:prstGeom xmlns:a="http://schemas.openxmlformats.org/drawingml/2006/main" prst="roundRect">
            <a:avLst>
              <a:gd name="adj" fmla="val 12389"/>
            </a:avLst>
          </a:prstGeom>
          <a:solidFill xmlns:a="http://schemas.openxmlformats.org/drawingml/2006/main">
            <a:srgbClr val="0F1A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2-feels-label">
            <a:extLst xmlns:a="http://schemas.openxmlformats.org/drawingml/2006/main">
              <a:ext uri="{FF2B5EF4-FFF2-40B4-BE49-F238E27FC236}">
                <a16:creationId xmlns:a16="http://schemas.microsoft.com/office/drawing/2014/main" id="{B1D03396-5257-4966-B623-4A87B8B3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 spc="1">
                <a:solidFill>
                  <a:srgbClr val="76C8E4"/>
                </a:solidFill>
              </a:defRPr>
            </a:pPr>
            <a:r>
              <a:rPr sz="825" b="1" i="0" spc="1">
                <a:solidFill>
                  <a:srgbClr val="76C8E4"/>
                </a:solidFill>
              </a:rPr>
              <a:t>FEELS LIKE</a:t>
            </a:r>
          </a:p>
        </p:txBody>
      </p:sp>
      <p:sp>
        <p:nvSpPr>
          <p:cNvPr id="45" name="s2-fastest">
            <a:extLst xmlns:a="http://schemas.openxmlformats.org/drawingml/2006/main">
              <a:ext uri="{FF2B5EF4-FFF2-40B4-BE49-F238E27FC236}">
                <a16:creationId xmlns:a16="http://schemas.microsoft.com/office/drawing/2014/main" id="{760D74D8-360C-42CD-9D92-B4C821B1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FC8C9"/>
                </a:solidFill>
              </a:defRPr>
            </a:pPr>
            <a:r>
              <a:rPr sz="1350" b="0" i="0">
                <a:solidFill>
                  <a:srgbClr val="BFC8C9"/>
                </a:solidFill>
              </a:rPr>
              <a:t>fastest  41°</a:t>
            </a:r>
          </a:p>
        </p:txBody>
      </p:sp>
      <p:sp>
        <p:nvSpPr>
          <p:cNvPr id="46" name="s2-shadeway">
            <a:extLst xmlns:a="http://schemas.openxmlformats.org/drawingml/2006/main">
              <a:ext uri="{FF2B5EF4-FFF2-40B4-BE49-F238E27FC236}">
                <a16:creationId xmlns:a16="http://schemas.microsoft.com/office/drawing/2014/main" id="{11DB3575-F2A2-468B-8B9C-713BF7B5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52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8F6"/>
                </a:solidFill>
              </a:defRPr>
            </a:pPr>
            <a:r>
              <a:rPr sz="1500" b="1" i="0">
                <a:solidFill>
                  <a:srgbClr val="F7F8F6"/>
                </a:solidFill>
              </a:rPr>
              <a:t>shadeway  33°</a:t>
            </a:r>
          </a:p>
        </p:txBody>
      </p:sp>
      <p:sp>
        <p:nvSpPr>
          <p:cNvPr id="47" name="s2-chart-label">
            <a:extLst xmlns:a="http://schemas.openxmlformats.org/drawingml/2006/main">
              <a:ext uri="{FF2B5EF4-FFF2-40B4-BE49-F238E27FC236}">
                <a16:creationId xmlns:a16="http://schemas.microsoft.com/office/drawing/2014/main" id="{38B45B3F-EAB7-4274-861A-C1CCA7B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 spc="1">
                <a:solidFill>
                  <a:srgbClr val="1E9B8F"/>
                </a:solidFill>
              </a:defRPr>
            </a:pPr>
            <a:r>
              <a:rPr sz="900" b="1" i="0" spc="1">
                <a:solidFill>
                  <a:srgbClr val="1E9B8F"/>
                </a:solidFill>
              </a:rPr>
              <a:t>WHEN TO LEAVE</a:t>
            </a:r>
          </a:p>
        </p:txBody>
      </p:sp>
      <p:sp>
        <p:nvSpPr>
          <p:cNvPr id="48" name="s2-chart-caption">
            <a:extLst xmlns:a="http://schemas.openxmlformats.org/drawingml/2006/main">
              <a:ext uri="{FF2B5EF4-FFF2-40B4-BE49-F238E27FC236}">
                <a16:creationId xmlns:a16="http://schemas.microsoft.com/office/drawing/2014/main" id="{939D84B3-8CD6-4DCB-90DE-D19352D8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24325"/>
            <a:ext cx="409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65460"/>
                </a:solidFill>
              </a:defRPr>
            </a:pPr>
            <a:r>
              <a:rPr sz="1200" b="0" i="0">
                <a:solidFill>
                  <a:srgbClr val="465460"/>
                </a:solidFill>
              </a:rPr>
              <a:t>A later departure can feel cooler, even before sunset.</a:t>
            </a:r>
          </a:p>
        </p:txBody>
      </p:sp>
      <p:graphicFrame>
        <p:nvGraphicFramePr>
          <p:cNvPr id="99" name="Chart"/>
          <p:cNvGraphicFramePr/>
          <p:nvPr/>
        </p:nvGraphicFramePr>
        <p:xfrm>
          <a:off xmlns:a="http://schemas.openxmlformats.org/drawingml/2006/main" x="6191250" y="4438650"/>
          <a:ext xmlns:a="http://schemas.openxmlformats.org/drawingml/2006/main" cx="4791075" cy="1200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18a21beab1401f"/>
          </a:graphicData>
        </a:graphic>
      </p:graphicFrame>
      <p:sp>
        <p:nvSpPr>
          <p:cNvPr id="50" name="s2-disclaimer">
            <a:extLst xmlns:a="http://schemas.openxmlformats.org/drawingml/2006/main">
              <a:ext uri="{FF2B5EF4-FFF2-40B4-BE49-F238E27FC236}">
                <a16:creationId xmlns:a16="http://schemas.microsoft.com/office/drawing/2014/main" id="{B592D006-5A48-48CE-A2F1-5F0D9A01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8293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87969B"/>
                </a:solidFill>
              </a:defRPr>
            </a:pPr>
            <a:r>
              <a:rPr sz="825" b="0" i="1">
                <a:solidFill>
                  <a:srgbClr val="87969B"/>
                </a:solidFill>
              </a:rPr>
              <a:t>Illustrative product view. Route conditions update with time and local weather.</a:t>
            </a:r>
          </a:p>
        </p:txBody>
      </p:sp>
    </p:spTree>
    <p:extLst>
      <p:ext uri="{BB962C8B-B14F-4D97-AF65-F5344CB8AC3E}">
        <p14:creationId xmlns:p14="http://schemas.microsoft.com/office/powerpoint/2010/main" val="705640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2026-08-30T23:40:03.3510000Z</dcterms:created>
  <dcterms:modified xsi:type="dcterms:W3CDTF">2026-08-30T23:40:03.3510000Z</dcterms:modified>
</coreProperties>
</file>